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494506" y="499666"/>
            <a:ext cx="293688" cy="227607"/>
          </a:xfrm>
          <a:custGeom>
            <a:avLst/>
            <a:gdLst/>
            <a:ahLst/>
            <a:cxnLst/>
            <a:rect l="l" t="t" r="r" b="b"/>
            <a:pathLst>
              <a:path w="293688" h="227607">
                <a:moveTo>
                  <a:pt x="0" y="0"/>
                </a:moveTo>
                <a:lnTo>
                  <a:pt x="1306" y="25336"/>
                </a:lnTo>
                <a:lnTo>
                  <a:pt x="5052" y="49404"/>
                </a:lnTo>
                <a:lnTo>
                  <a:pt x="10981" y="72172"/>
                </a:lnTo>
                <a:lnTo>
                  <a:pt x="18837" y="93607"/>
                </a:lnTo>
                <a:lnTo>
                  <a:pt x="28363" y="113678"/>
                </a:lnTo>
                <a:lnTo>
                  <a:pt x="39301" y="132352"/>
                </a:lnTo>
                <a:lnTo>
                  <a:pt x="51396" y="149597"/>
                </a:lnTo>
                <a:lnTo>
                  <a:pt x="64389" y="165381"/>
                </a:lnTo>
                <a:lnTo>
                  <a:pt x="78024" y="179672"/>
                </a:lnTo>
                <a:lnTo>
                  <a:pt x="92045" y="192438"/>
                </a:lnTo>
                <a:lnTo>
                  <a:pt x="106194" y="203646"/>
                </a:lnTo>
                <a:lnTo>
                  <a:pt x="120215" y="213266"/>
                </a:lnTo>
                <a:lnTo>
                  <a:pt x="133851" y="221263"/>
                </a:lnTo>
                <a:lnTo>
                  <a:pt x="146844" y="227607"/>
                </a:lnTo>
                <a:lnTo>
                  <a:pt x="159837" y="221263"/>
                </a:lnTo>
                <a:lnTo>
                  <a:pt x="173473" y="213266"/>
                </a:lnTo>
                <a:lnTo>
                  <a:pt x="187494" y="203646"/>
                </a:lnTo>
                <a:lnTo>
                  <a:pt x="201643" y="192438"/>
                </a:lnTo>
                <a:lnTo>
                  <a:pt x="215664" y="179672"/>
                </a:lnTo>
                <a:lnTo>
                  <a:pt x="229299" y="165381"/>
                </a:lnTo>
                <a:lnTo>
                  <a:pt x="242292" y="149597"/>
                </a:lnTo>
                <a:lnTo>
                  <a:pt x="254387" y="132352"/>
                </a:lnTo>
                <a:lnTo>
                  <a:pt x="265325" y="113678"/>
                </a:lnTo>
                <a:lnTo>
                  <a:pt x="274851" y="93607"/>
                </a:lnTo>
                <a:lnTo>
                  <a:pt x="282707" y="72172"/>
                </a:lnTo>
                <a:lnTo>
                  <a:pt x="288636" y="49404"/>
                </a:lnTo>
                <a:lnTo>
                  <a:pt x="292382" y="25336"/>
                </a:lnTo>
                <a:lnTo>
                  <a:pt x="293688" y="0"/>
                </a:lnTo>
                <a:close/>
              </a:path>
            </a:pathLst>
          </a:custGeom>
          <a:solidFill>
            <a:srgbClr val="EF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0204" y="518021"/>
            <a:ext cx="110133" cy="110133"/>
          </a:xfrm>
          <a:prstGeom prst="ellipse">
            <a:avLst/>
          </a:prstGeom>
          <a:solidFill>
            <a:srgbClr val="0B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2363" y="518021"/>
            <a:ext cx="110133" cy="110133"/>
          </a:xfrm>
          <a:prstGeom prst="ellipse">
            <a:avLst/>
          </a:prstGeom>
          <a:solidFill>
            <a:srgbClr val="0B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8750" y="556568"/>
            <a:ext cx="47724" cy="47724"/>
          </a:xfrm>
          <a:prstGeom prst="ellipse">
            <a:avLst/>
          </a:prstGeom>
          <a:solidFill>
            <a:srgbClr val="EF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225" y="556568"/>
            <a:ext cx="47724" cy="47724"/>
          </a:xfrm>
          <a:prstGeom prst="ellipse">
            <a:avLst/>
          </a:prstGeom>
          <a:solidFill>
            <a:srgbClr val="EF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24830" y="631825"/>
            <a:ext cx="33040" cy="44053"/>
          </a:xfrm>
          <a:custGeom>
            <a:avLst/>
            <a:gdLst/>
            <a:ahLst/>
            <a:cxnLst/>
            <a:rect l="l" t="t" r="r" b="b"/>
            <a:pathLst>
              <a:path w="33040" h="44053">
                <a:moveTo>
                  <a:pt x="16520" y="0"/>
                </a:moveTo>
                <a:lnTo>
                  <a:pt x="33040" y="20191"/>
                </a:lnTo>
                <a:lnTo>
                  <a:pt x="16520" y="44053"/>
                </a:lnTo>
                <a:lnTo>
                  <a:pt x="0" y="20191"/>
                </a:lnTo>
                <a:close/>
              </a:path>
            </a:pathLst>
          </a:custGeom>
          <a:solidFill>
            <a:srgbClr val="0B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65138" y="349151"/>
            <a:ext cx="352424" cy="198239"/>
          </a:xfrm>
          <a:custGeom>
            <a:avLst/>
            <a:gdLst/>
            <a:ahLst/>
            <a:cxnLst/>
            <a:rect l="l" t="t" r="r" b="b"/>
            <a:pathLst>
              <a:path w="352424" h="198239">
                <a:moveTo>
                  <a:pt x="0" y="146844"/>
                </a:moveTo>
                <a:lnTo>
                  <a:pt x="1212" y="127067"/>
                </a:lnTo>
                <a:lnTo>
                  <a:pt x="4752" y="108656"/>
                </a:lnTo>
                <a:lnTo>
                  <a:pt x="10475" y="91625"/>
                </a:lnTo>
                <a:lnTo>
                  <a:pt x="18237" y="75990"/>
                </a:lnTo>
                <a:lnTo>
                  <a:pt x="27894" y="61769"/>
                </a:lnTo>
                <a:lnTo>
                  <a:pt x="39301" y="48976"/>
                </a:lnTo>
                <a:lnTo>
                  <a:pt x="52313" y="37628"/>
                </a:lnTo>
                <a:lnTo>
                  <a:pt x="66786" y="27742"/>
                </a:lnTo>
                <a:lnTo>
                  <a:pt x="82575" y="19332"/>
                </a:lnTo>
                <a:lnTo>
                  <a:pt x="99536" y="12415"/>
                </a:lnTo>
                <a:lnTo>
                  <a:pt x="117525" y="7008"/>
                </a:lnTo>
                <a:lnTo>
                  <a:pt x="136397" y="3125"/>
                </a:lnTo>
                <a:lnTo>
                  <a:pt x="156008" y="784"/>
                </a:lnTo>
                <a:lnTo>
                  <a:pt x="176212" y="0"/>
                </a:lnTo>
                <a:lnTo>
                  <a:pt x="196416" y="784"/>
                </a:lnTo>
                <a:lnTo>
                  <a:pt x="216027" y="3125"/>
                </a:lnTo>
                <a:lnTo>
                  <a:pt x="234899" y="7008"/>
                </a:lnTo>
                <a:lnTo>
                  <a:pt x="252888" y="12415"/>
                </a:lnTo>
                <a:lnTo>
                  <a:pt x="269849" y="19332"/>
                </a:lnTo>
                <a:lnTo>
                  <a:pt x="285638" y="27742"/>
                </a:lnTo>
                <a:lnTo>
                  <a:pt x="300111" y="37628"/>
                </a:lnTo>
                <a:lnTo>
                  <a:pt x="313123" y="48976"/>
                </a:lnTo>
                <a:lnTo>
                  <a:pt x="324530" y="61769"/>
                </a:lnTo>
                <a:lnTo>
                  <a:pt x="334187" y="75990"/>
                </a:lnTo>
                <a:lnTo>
                  <a:pt x="341949" y="91625"/>
                </a:lnTo>
                <a:lnTo>
                  <a:pt x="347672" y="108656"/>
                </a:lnTo>
                <a:lnTo>
                  <a:pt x="351212" y="127067"/>
                </a:lnTo>
                <a:lnTo>
                  <a:pt x="352424" y="146844"/>
                </a:lnTo>
                <a:lnTo>
                  <a:pt x="341612" y="144671"/>
                </a:lnTo>
                <a:lnTo>
                  <a:pt x="329756" y="142948"/>
                </a:lnTo>
                <a:lnTo>
                  <a:pt x="317049" y="141786"/>
                </a:lnTo>
                <a:lnTo>
                  <a:pt x="303684" y="141299"/>
                </a:lnTo>
                <a:lnTo>
                  <a:pt x="289853" y="141599"/>
                </a:lnTo>
                <a:lnTo>
                  <a:pt x="275749" y="142798"/>
                </a:lnTo>
                <a:lnTo>
                  <a:pt x="261565" y="145008"/>
                </a:lnTo>
                <a:lnTo>
                  <a:pt x="247493" y="148342"/>
                </a:lnTo>
                <a:lnTo>
                  <a:pt x="233727" y="152912"/>
                </a:lnTo>
                <a:lnTo>
                  <a:pt x="220458" y="158831"/>
                </a:lnTo>
                <a:lnTo>
                  <a:pt x="207879" y="166210"/>
                </a:lnTo>
                <a:lnTo>
                  <a:pt x="196184" y="175163"/>
                </a:lnTo>
                <a:lnTo>
                  <a:pt x="185564" y="185802"/>
                </a:lnTo>
                <a:lnTo>
                  <a:pt x="176212" y="198239"/>
                </a:lnTo>
                <a:lnTo>
                  <a:pt x="166860" y="185802"/>
                </a:lnTo>
                <a:lnTo>
                  <a:pt x="156240" y="175163"/>
                </a:lnTo>
                <a:lnTo>
                  <a:pt x="144545" y="166210"/>
                </a:lnTo>
                <a:lnTo>
                  <a:pt x="131966" y="158831"/>
                </a:lnTo>
                <a:lnTo>
                  <a:pt x="118697" y="152912"/>
                </a:lnTo>
                <a:lnTo>
                  <a:pt x="104931" y="148342"/>
                </a:lnTo>
                <a:lnTo>
                  <a:pt x="90859" y="145008"/>
                </a:lnTo>
                <a:lnTo>
                  <a:pt x="76675" y="142798"/>
                </a:lnTo>
                <a:lnTo>
                  <a:pt x="62571" y="141599"/>
                </a:lnTo>
                <a:lnTo>
                  <a:pt x="48740" y="141299"/>
                </a:lnTo>
                <a:lnTo>
                  <a:pt x="35375" y="141786"/>
                </a:lnTo>
                <a:lnTo>
                  <a:pt x="22668" y="142948"/>
                </a:lnTo>
                <a:lnTo>
                  <a:pt x="10812" y="144671"/>
                </a:lnTo>
                <a:lnTo>
                  <a:pt x="0" y="146844"/>
                </a:lnTo>
                <a:close/>
              </a:path>
            </a:pathLst>
          </a:custGeom>
          <a:solidFill>
            <a:srgbClr val="EFE9E2"/>
          </a:solidFill>
          <a:ln w="18355">
            <a:solidFill>
              <a:srgbClr val="0B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30" y="308769"/>
            <a:ext cx="33040" cy="62409"/>
          </a:xfrm>
          <a:prstGeom prst="roundRect">
            <a:avLst>
              <a:gd name="adj" fmla="val 50000"/>
            </a:avLst>
          </a:prstGeom>
          <a:solidFill>
            <a:srgbClr val="EF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79400"/>
            <a:ext cx="3810000" cy="469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2200" b="1" u="none" spc="-120">
                <a:solidFill>
                  <a:srgbClr val="EFE9E2"/>
                </a:solidFill>
                <a:latin typeface="Inter"/>
              </a:rPr>
              <a:t>PreDiligence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5600" y="3048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850" b="0" u="none">
                <a:solidFill>
                  <a:srgbClr val="A99F93"/>
                </a:solidFill>
                <a:latin typeface="Inter"/>
              </a:rPr>
              <a:t>Accel · Future Founder Challenge</a:t>
            </a:r>
          </a:p>
          <a:p>
            <a:pPr algn="r">
              <a:lnSpc>
                <a:spcPct val="115000"/>
              </a:lnSpc>
            </a:pPr>
            <a:r>
              <a:rPr sz="850" b="0" u="none">
                <a:solidFill>
                  <a:srgbClr val="A99F93"/>
                </a:solidFill>
                <a:latin typeface="Inter"/>
              </a:rPr>
              <a:t>Data-Centric Agents ·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" y="8763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98000"/>
              </a:lnSpc>
            </a:pPr>
            <a:r>
              <a:rPr sz="2500" b="1" u="none" spc="-180">
                <a:solidFill>
                  <a:srgbClr val="EFE9E2"/>
                </a:solidFill>
                <a:latin typeface="Inter"/>
              </a:rPr>
              <a:t>The AI analyst that turns a startup name into a </a:t>
            </a:r>
            <a:r>
              <a:rPr sz="2500" b="1" u="none" spc="-180">
                <a:solidFill>
                  <a:srgbClr val="E9BD93"/>
                </a:solidFill>
                <a:latin typeface="Inter"/>
              </a:rPr>
              <a:t>sourced pre-call memo in 2 minutes</a:t>
            </a:r>
            <a:r>
              <a:rPr sz="2500" b="1" u="none" spc="-180">
                <a:solidFill>
                  <a:srgbClr val="EFE9E2"/>
                </a:solidFill>
                <a:latin typeface="Inter"/>
              </a:rPr>
              <a:t>, and flags what the databases got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400" y="1727200"/>
            <a:ext cx="3683000" cy="1809750"/>
          </a:xfrm>
          <a:prstGeom prst="roundRect">
            <a:avLst>
              <a:gd name="adj" fmla="val 7719"/>
            </a:avLst>
          </a:prstGeom>
          <a:solidFill>
            <a:srgbClr val="141210"/>
          </a:solidFill>
          <a:ln w="6350">
            <a:solidFill>
              <a:srgbClr val="26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4200" y="1866900"/>
            <a:ext cx="44450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00" b="1" u="none" spc="200">
                <a:solidFill>
                  <a:srgbClr val="D9A070"/>
                </a:solidFill>
                <a:latin typeface="Inter"/>
              </a:rPr>
              <a:t>WHO IT'S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070100"/>
            <a:ext cx="3340100" cy="142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1" u="none">
                <a:solidFill>
                  <a:srgbClr val="FFFFFF"/>
                </a:solidFill>
                <a:latin typeface="Inter"/>
              </a:rPr>
              <a:t>Analysts and partners at pre-seed and seed funds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, who screen hundreds of startups a month.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Each first look takes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2 to 4 hours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 of research on public data that is scattered, stale and contradictory.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Incumbents serve PE, not seed: DiligenceSquared charges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~$50k per project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4500" y="1727200"/>
            <a:ext cx="3683000" cy="1809750"/>
          </a:xfrm>
          <a:prstGeom prst="roundRect">
            <a:avLst>
              <a:gd name="adj" fmla="val 7719"/>
            </a:avLst>
          </a:prstGeom>
          <a:solidFill>
            <a:srgbClr val="141210"/>
          </a:solidFill>
          <a:ln w="6350">
            <a:solidFill>
              <a:srgbClr val="26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2300" y="1866900"/>
            <a:ext cx="44450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00" b="1" u="none" spc="200">
                <a:solidFill>
                  <a:srgbClr val="D9A070"/>
                </a:solidFill>
                <a:latin typeface="Inter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2300" y="2070100"/>
            <a:ext cx="3340100" cy="142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1" u="none">
                <a:solidFill>
                  <a:srgbClr val="FFFFFF"/>
                </a:solidFill>
                <a:latin typeface="Inter"/>
              </a:rPr>
              <a:t>Live web search built for agents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 is now cheap and fast (Keenable).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LLMs can finally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extract and cross-check facts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, not just summarise.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The market pays: Rogo passed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$50M ARR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, and Accel co-led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Bridgetown Research's $19M Series A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. Nobody serves early stage.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2600" y="1727200"/>
            <a:ext cx="3683000" cy="1809750"/>
          </a:xfrm>
          <a:prstGeom prst="roundRect">
            <a:avLst>
              <a:gd name="adj" fmla="val 7719"/>
            </a:avLst>
          </a:prstGeom>
          <a:solidFill>
            <a:srgbClr val="141210"/>
          </a:solidFill>
          <a:ln w="6350">
            <a:solidFill>
              <a:srgbClr val="26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0400" y="1866900"/>
            <a:ext cx="44450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00" b="1" u="none" spc="200">
                <a:solidFill>
                  <a:srgbClr val="D9A070"/>
                </a:solidFill>
                <a:latin typeface="Inter"/>
              </a:rPr>
              <a:t>FIRST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2070100"/>
            <a:ext cx="3340100" cy="142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1" u="none">
                <a:solidFill>
                  <a:srgbClr val="FFFFFF"/>
                </a:solidFill>
                <a:latin typeface="Inter"/>
              </a:rPr>
              <a:t>The VCs in this room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: free pilot from tomorrow, on their real deal flow.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Paris seed funds, scout programs and angel networks, through warm intros.</a:t>
            </a:r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Clr>
                <a:srgbClr val="D9A070"/>
              </a:buClr>
              <a:buFont typeface="Arial"/>
              <a:buChar char="•"/>
            </a:pPr>
            <a:r>
              <a:rPr sz="975" b="0" u="none">
                <a:solidFill>
                  <a:srgbClr val="E3DCD3"/>
                </a:solidFill>
                <a:latin typeface="Inter"/>
              </a:rPr>
              <a:t>A weekly public post: </a:t>
            </a:r>
            <a:r>
              <a:rPr sz="975" b="1" u="none">
                <a:solidFill>
                  <a:srgbClr val="FFFFFF"/>
                </a:solidFill>
                <a:latin typeface="Inter"/>
              </a:rPr>
              <a:t>"what the databases got wrong this week"</a:t>
            </a:r>
            <a:r>
              <a:rPr sz="975" b="0" u="none">
                <a:solidFill>
                  <a:srgbClr val="E3DCD3"/>
                </a:solidFill>
                <a:latin typeface="Inter"/>
              </a:rPr>
              <a:t>. Then €200–500 per seat per month.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400" y="3683000"/>
            <a:ext cx="6000750" cy="2895600"/>
          </a:xfrm>
          <a:prstGeom prst="roundRect">
            <a:avLst>
              <a:gd name="adj" fmla="val 4824"/>
            </a:avLst>
          </a:prstGeom>
          <a:solidFill>
            <a:srgbClr val="141210"/>
          </a:solidFill>
          <a:ln w="6350">
            <a:solidFill>
              <a:srgbClr val="26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84200" y="3822700"/>
            <a:ext cx="44450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00" b="1" u="none" spc="200">
                <a:solidFill>
                  <a:srgbClr val="D9A070"/>
                </a:solidFill>
                <a:latin typeface="Inter"/>
              </a:rPr>
              <a:t>HOW IT WORKS · DATA AT THE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200" y="4025900"/>
            <a:ext cx="1422400" cy="279400"/>
          </a:xfrm>
          <a:prstGeom prst="roundRect">
            <a:avLst>
              <a:gd name="adj" fmla="val 27272"/>
            </a:avLst>
          </a:prstGeom>
          <a:solidFill>
            <a:srgbClr val="1F1C1A"/>
          </a:solidFill>
          <a:ln w="6350">
            <a:solidFill>
              <a:srgbClr val="3A3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EFE9E2"/>
                </a:solidFill>
                <a:latin typeface="Inter"/>
              </a:rPr>
              <a:t>Keenable live web +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9300" y="4025900"/>
            <a:ext cx="1905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u="none">
                <a:solidFill>
                  <a:srgbClr val="6F665D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22500" y="4025900"/>
            <a:ext cx="660400" cy="279400"/>
          </a:xfrm>
          <a:prstGeom prst="roundRect">
            <a:avLst>
              <a:gd name="adj" fmla="val 27272"/>
            </a:avLst>
          </a:prstGeom>
          <a:solidFill>
            <a:srgbClr val="2A1F17"/>
          </a:solidFill>
          <a:ln w="6350">
            <a:solidFill>
              <a:srgbClr val="4A3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F3CFAE"/>
                </a:solidFill>
                <a:latin typeface="Inter"/>
              </a:rPr>
              <a:t>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600" y="4025900"/>
            <a:ext cx="1905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u="none">
                <a:solidFill>
                  <a:srgbClr val="6F665D"/>
                </a:solidFill>
                <a:latin typeface="Int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8800" y="4025900"/>
            <a:ext cx="1244600" cy="279400"/>
          </a:xfrm>
          <a:prstGeom prst="roundRect">
            <a:avLst>
              <a:gd name="adj" fmla="val 27272"/>
            </a:avLst>
          </a:prstGeom>
          <a:solidFill>
            <a:srgbClr val="2A1F17"/>
          </a:solidFill>
          <a:ln w="6350">
            <a:solidFill>
              <a:srgbClr val="4A3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F3CFAE"/>
                </a:solidFill>
                <a:latin typeface="Inter"/>
              </a:rPr>
              <a:t>4 research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6100" y="4025900"/>
            <a:ext cx="1905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u="none">
                <a:solidFill>
                  <a:srgbClr val="6F665D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59300" y="4025900"/>
            <a:ext cx="1028700" cy="279400"/>
          </a:xfrm>
          <a:prstGeom prst="roundRect">
            <a:avLst>
              <a:gd name="adj" fmla="val 27272"/>
            </a:avLst>
          </a:prstGeom>
          <a:solidFill>
            <a:srgbClr val="2A1F17"/>
          </a:solidFill>
          <a:ln w="6350">
            <a:solidFill>
              <a:srgbClr val="4A3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F3CFAE"/>
                </a:solidFill>
                <a:latin typeface="Inter"/>
              </a:rPr>
              <a:t>Fact extractor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0700" y="4025900"/>
            <a:ext cx="1905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u="none">
                <a:solidFill>
                  <a:srgbClr val="6F665D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200" y="4381500"/>
            <a:ext cx="660400" cy="279400"/>
          </a:xfrm>
          <a:prstGeom prst="roundRect">
            <a:avLst>
              <a:gd name="adj" fmla="val 27272"/>
            </a:avLst>
          </a:prstGeom>
          <a:solidFill>
            <a:srgbClr val="2A1F17"/>
          </a:solidFill>
          <a:ln w="6350">
            <a:solidFill>
              <a:srgbClr val="4A3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F3CFAE"/>
                </a:solidFill>
                <a:latin typeface="Inter"/>
              </a:rPr>
              <a:t>Verifier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" y="4381500"/>
            <a:ext cx="1905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u="none">
                <a:solidFill>
                  <a:srgbClr val="6F665D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0500" y="4381500"/>
            <a:ext cx="1587500" cy="279400"/>
          </a:xfrm>
          <a:prstGeom prst="roundRect">
            <a:avLst>
              <a:gd name="adj" fmla="val 27272"/>
            </a:avLst>
          </a:prstGeom>
          <a:solidFill>
            <a:srgbClr val="2A1F17"/>
          </a:solidFill>
          <a:ln w="6350">
            <a:solidFill>
              <a:srgbClr val="4A3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 u="none">
                <a:solidFill>
                  <a:srgbClr val="F3CFAE"/>
                </a:solidFill>
                <a:latin typeface="Inter"/>
              </a:rPr>
              <a:t>Memo + 5 call questions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4200" y="4787900"/>
            <a:ext cx="5645150" cy="825500"/>
          </a:xfrm>
          <a:prstGeom prst="roundRect">
            <a:avLst>
              <a:gd name="adj" fmla="val 10769"/>
            </a:avLst>
          </a:prstGeom>
          <a:solidFill>
            <a:srgbClr val="0F0D0B"/>
          </a:solidFill>
          <a:ln w="6350">
            <a:solidFill>
              <a:srgbClr val="4A36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2000" y="49022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8000"/>
              </a:lnSpc>
            </a:pPr>
            <a:r>
              <a:rPr sz="1000" b="1" u="none">
                <a:solidFill>
                  <a:srgbClr val="FFFFFF"/>
                </a:solidFill>
                <a:latin typeface="Inter"/>
              </a:rPr>
              <a:t>Aiven PostgreSQL is the memory. </a:t>
            </a:r>
            <a:r>
              <a:rPr sz="1000" b="0" u="none">
                <a:solidFill>
                  <a:srgbClr val="E3DCD3"/>
                </a:solidFill>
                <a:latin typeface="Inter"/>
              </a:rPr>
              <a:t>Every fact is stored with its source, date and confidence. No source, no fact. The primary source beats stale databases, and every re-check shows exactly what changed.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72250" y="3683000"/>
            <a:ext cx="5213350" cy="2895600"/>
          </a:xfrm>
          <a:prstGeom prst="roundRect">
            <a:avLst>
              <a:gd name="adj" fmla="val 4824"/>
            </a:avLst>
          </a:prstGeom>
          <a:solidFill>
            <a:srgbClr val="141210"/>
          </a:solidFill>
          <a:ln w="6350">
            <a:solidFill>
              <a:srgbClr val="26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50050" y="3822700"/>
            <a:ext cx="44450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00" b="1" u="none" spc="200">
                <a:solidFill>
                  <a:srgbClr val="D9A070"/>
                </a:solidFill>
                <a:latin typeface="Inter"/>
              </a:rPr>
              <a:t>PROOF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50050" y="4025900"/>
            <a:ext cx="2393950" cy="736600"/>
          </a:xfrm>
          <a:prstGeom prst="roundRect">
            <a:avLst>
              <a:gd name="adj" fmla="val 12068"/>
            </a:avLst>
          </a:prstGeom>
          <a:solidFill>
            <a:srgbClr val="1D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64350" y="4102100"/>
            <a:ext cx="217805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00" b="1" u="none">
                <a:solidFill>
                  <a:srgbClr val="FFFFFF"/>
                </a:solidFill>
                <a:latin typeface="Inter"/>
              </a:rPr>
              <a:t>"Active"</a:t>
            </a:r>
          </a:p>
          <a:p>
            <a:pPr>
              <a:lnSpc>
                <a:spcPct val="112000"/>
              </a:lnSpc>
            </a:pPr>
            <a:r>
              <a:rPr sz="900" b="0" u="none">
                <a:solidFill>
                  <a:srgbClr val="A99F93"/>
                </a:solidFill>
                <a:latin typeface="Inter"/>
              </a:rPr>
              <a:t>YC directory, PitchBook and Tracxn on Menza (YC W26)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3850" y="4025900"/>
            <a:ext cx="2393950" cy="736600"/>
          </a:xfrm>
          <a:prstGeom prst="roundRect">
            <a:avLst>
              <a:gd name="adj" fmla="val 12068"/>
            </a:avLst>
          </a:prstGeom>
          <a:solidFill>
            <a:srgbClr val="33261C"/>
          </a:solidFill>
          <a:ln w="6350">
            <a:solidFill>
              <a:srgbClr val="6B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328150" y="4102100"/>
            <a:ext cx="217805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00" b="1" u="none">
                <a:solidFill>
                  <a:srgbClr val="FFFFFF"/>
                </a:solidFill>
                <a:latin typeface="Inter"/>
              </a:rPr>
              <a:t>"Acquired"</a:t>
            </a:r>
          </a:p>
          <a:p>
            <a:pPr>
              <a:lnSpc>
                <a:spcPct val="112000"/>
              </a:lnSpc>
            </a:pPr>
            <a:r>
              <a:rPr sz="900" b="0" u="none">
                <a:solidFill>
                  <a:srgbClr val="F6D8BC"/>
                </a:solidFill>
                <a:latin typeface="Inter"/>
              </a:rPr>
              <a:t>PreDiligence found it on Menza's own blog, with the source and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50050" y="4914900"/>
            <a:ext cx="1905000" cy="12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750" b="1" u="none" spc="100">
                <a:solidFill>
                  <a:srgbClr val="A99F93"/>
                </a:solidFill>
                <a:latin typeface="Inter"/>
              </a:rPr>
              <a:t>10 YC F26 STARTUPS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3000" y="4914900"/>
            <a:ext cx="1397000" cy="12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750" b="1" u="none" spc="100">
                <a:solidFill>
                  <a:srgbClr val="A99F93"/>
                </a:solidFill>
                <a:latin typeface="Inter"/>
              </a:rPr>
              <a:t>LLM ALONE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9850" y="4914900"/>
            <a:ext cx="1397000" cy="12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750" b="1" u="none" spc="100">
                <a:solidFill>
                  <a:srgbClr val="A99F93"/>
                </a:solidFill>
                <a:latin typeface="Inter"/>
              </a:rPr>
              <a:t>PREDILIGENCE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0050" y="5118100"/>
            <a:ext cx="4857750" cy="0"/>
          </a:xfrm>
          <a:prstGeom prst="line">
            <a:avLst/>
          </a:prstGeom>
          <a:ln w="6350">
            <a:solidFill>
              <a:srgbClr val="26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50050" y="517525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none">
                <a:solidFill>
                  <a:srgbClr val="E3DCD3"/>
                </a:solidFill>
                <a:latin typeface="Inter"/>
              </a:rPr>
              <a:t>Correct facts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3000" y="51752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sng">
                <a:solidFill>
                  <a:srgbClr val="D9A070"/>
                </a:solidFill>
                <a:latin typeface="Inter"/>
              </a:rPr>
              <a:t>  __%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9850" y="51752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1" u="sng">
                <a:solidFill>
                  <a:srgbClr val="D9A070"/>
                </a:solidFill>
                <a:latin typeface="Inter"/>
              </a:rPr>
              <a:t>  __%  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50050" y="5384800"/>
            <a:ext cx="4857750" cy="0"/>
          </a:xfrm>
          <a:prstGeom prst="line">
            <a:avLst/>
          </a:prstGeom>
          <a:ln w="6350">
            <a:solidFill>
              <a:srgbClr val="26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750050" y="544195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none">
                <a:solidFill>
                  <a:srgbClr val="E3DCD3"/>
                </a:solidFill>
                <a:latin typeface="Inter"/>
              </a:rPr>
              <a:t>Facts with a source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3000" y="54419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sng">
                <a:solidFill>
                  <a:srgbClr val="D9A070"/>
                </a:solidFill>
                <a:latin typeface="Inter"/>
              </a:rPr>
              <a:t>  __%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9850" y="54419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1" u="sng">
                <a:solidFill>
                  <a:srgbClr val="D9A070"/>
                </a:solidFill>
                <a:latin typeface="Inter"/>
              </a:rPr>
              <a:t>  __%  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0050" y="5651500"/>
            <a:ext cx="4857750" cy="0"/>
          </a:xfrm>
          <a:prstGeom prst="line">
            <a:avLst/>
          </a:prstGeom>
          <a:ln w="6350">
            <a:solidFill>
              <a:srgbClr val="26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750050" y="570865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none">
                <a:solidFill>
                  <a:srgbClr val="E3DCD3"/>
                </a:solidFill>
                <a:latin typeface="Inter"/>
              </a:rPr>
              <a:t>Time per startup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63000" y="57086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0" u="none">
                <a:solidFill>
                  <a:srgbClr val="E3DCD3"/>
                </a:solidFill>
                <a:latin typeface="Inter"/>
              </a:rPr>
              <a:t>2–4 h by hand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29850" y="5708650"/>
            <a:ext cx="1397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1" u="sng">
                <a:solidFill>
                  <a:srgbClr val="D9A070"/>
                </a:solidFill>
                <a:latin typeface="Inter"/>
              </a:rPr>
              <a:t>  __ min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